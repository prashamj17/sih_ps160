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0" y="25400"/>
            <a:ext cx="2247900" cy="1041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77800"/>
            <a:ext cx="8890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 u="none">
                <a:solidFill>
                  <a:srgbClr val="1F497D"/>
                </a:solidFill>
                <a:latin typeface="Garamond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219200"/>
            <a:ext cx="38100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170" b="1" i="0" u="none">
                <a:solidFill>
                  <a:srgbClr val="000000"/>
                </a:solidFill>
                <a:latin typeface="Times New Roman"/>
              </a:rPr>
              <a:t>TITLE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2362200"/>
            <a:ext cx="114300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</a:t>
            </a:r>
            <a:r>
              <a:rPr sz="1900" b="1">
                <a:solidFill>
                  <a:srgbClr val="000000"/>
                </a:solidFill>
                <a:latin typeface="Arial"/>
              </a:rPr>
              <a:t>Problem Statement ID – </a:t>
            </a:r>
            <a:r>
              <a:rPr sz="1900" b="1">
                <a:solidFill>
                  <a:srgbClr val="1F497D"/>
                </a:solidFill>
                <a:latin typeface="Arial"/>
              </a:rPr>
              <a:t>SIH 26160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</a:t>
            </a:r>
            <a:r>
              <a:rPr sz="1900" b="1">
                <a:solidFill>
                  <a:srgbClr val="000000"/>
                </a:solidFill>
                <a:latin typeface="Arial"/>
              </a:rPr>
              <a:t>Problem Statement Title- </a:t>
            </a:r>
            <a:r>
              <a:rPr sz="1900" b="1">
                <a:solidFill>
                  <a:srgbClr val="1F497D"/>
                </a:solidFill>
                <a:latin typeface="Arial"/>
              </a:rPr>
              <a:t>AI-Powered IPsec VPN Protocol Analyzer and Security Assessment Framework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</a:t>
            </a:r>
            <a:r>
              <a:rPr sz="1900" b="1">
                <a:solidFill>
                  <a:srgbClr val="000000"/>
                </a:solidFill>
                <a:latin typeface="Arial"/>
              </a:rPr>
              <a:t>Theme- </a:t>
            </a:r>
            <a:r>
              <a:rPr sz="1900" b="1">
                <a:solidFill>
                  <a:srgbClr val="1F497D"/>
                </a:solidFill>
                <a:latin typeface="Arial"/>
              </a:rPr>
              <a:t>Blockchain &amp; Cybersecurity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</a:t>
            </a:r>
            <a:r>
              <a:rPr sz="1900" b="1">
                <a:solidFill>
                  <a:srgbClr val="000000"/>
                </a:solidFill>
                <a:latin typeface="Arial"/>
              </a:rPr>
              <a:t>PS Category- </a:t>
            </a:r>
            <a:r>
              <a:rPr sz="1900" b="1">
                <a:solidFill>
                  <a:srgbClr val="1F497D"/>
                </a:solidFill>
                <a:latin typeface="Arial"/>
              </a:rPr>
              <a:t>Software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</a:t>
            </a:r>
            <a:r>
              <a:rPr sz="1900" b="1">
                <a:solidFill>
                  <a:srgbClr val="000000"/>
                </a:solidFill>
                <a:latin typeface="Arial"/>
              </a:rPr>
              <a:t>Team ID- </a:t>
            </a:r>
            <a:r>
              <a:rPr sz="1900" b="1">
                <a:solidFill>
                  <a:srgbClr val="1F497D"/>
                </a:solidFill>
                <a:latin typeface="Arial"/>
              </a:rPr>
              <a:t>SIH 163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</a:t>
            </a:r>
            <a:r>
              <a:rPr sz="1900" b="1">
                <a:solidFill>
                  <a:srgbClr val="000000"/>
                </a:solidFill>
                <a:latin typeface="Arial"/>
              </a:rPr>
              <a:t>Team Name (Registered on portal)- </a:t>
            </a:r>
            <a:r>
              <a:rPr sz="1900" b="1">
                <a:solidFill>
                  <a:srgbClr val="1F497D"/>
                </a:solidFill>
                <a:latin typeface="Arial"/>
              </a:rPr>
              <a:t>Highlanders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Calibri"/>
              </a:rPr>
              <a:t>IPsec Sentinel  —  passive IPsec protocol analysis and security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66700"/>
            <a:ext cx="1257300" cy="800100"/>
          </a:xfrm>
          <a:prstGeom prst="ellipse">
            <a:avLst/>
          </a:prstGeom>
          <a:noFill/>
          <a:ln w="1905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17202A"/>
                </a:solidFill>
                <a:latin typeface="Calibri"/>
              </a:rPr>
              <a:t>Highlanders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0" y="25400"/>
            <a:ext cx="2247900" cy="1041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30" b="0" i="0" u="none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30" b="1" i="0" u="none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431800"/>
            <a:ext cx="8890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 u="none">
                <a:solidFill>
                  <a:srgbClr val="000000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" y="1168400"/>
            <a:ext cx="11988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>
                <a:solidFill>
                  <a:srgbClr val="1F497D"/>
                </a:solidFill>
                <a:latin typeface="Arial"/>
              </a:rPr>
              <a:t>❖ </a:t>
            </a:r>
            <a:r>
              <a:rPr sz="2100" b="1" u="sng">
                <a:solidFill>
                  <a:srgbClr val="1F497D"/>
                </a:solidFill>
                <a:latin typeface="Arial"/>
              </a:rPr>
              <a:t>IPsec Sentinel — passive IPsec assessment with auditable 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87500"/>
            <a:ext cx="11353800" cy="254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600" y="1803400"/>
            <a:ext cx="3403600" cy="10922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875">
            <a:solidFill>
              <a:srgbClr val="8C1C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/>
            <a:r>
              <a:rPr sz="1250" b="1" u="sng">
                <a:solidFill>
                  <a:srgbClr val="8C1C13"/>
                </a:solidFill>
                <a:latin typeface="Arial"/>
              </a:rPr>
              <a:t>Real-world issue: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7202A"/>
                </a:solidFill>
                <a:latin typeface="Arial"/>
              </a:rPr>
              <a:t>Wireshark decodes an IKE exchange but has no opinion about it. Weak IPsec survives for years because nothing judges what it sees.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600" y="2997200"/>
            <a:ext cx="3403600" cy="1168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/>
            <a:r>
              <a:rPr sz="1250" b="1" u="sng">
                <a:solidFill>
                  <a:srgbClr val="1F497D"/>
                </a:solidFill>
                <a:latin typeface="Arial"/>
              </a:rPr>
              <a:t>How it addresses the problem: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7202A"/>
                </a:solidFill>
                <a:latin typeface="Arial"/>
              </a:rPr>
              <a:t>26 deterministic rules, each citing the clause it applies, across NIST, CNSA, BSI, RFC 8221/8247, ITSAR and CERT-In.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600" y="4267200"/>
            <a:ext cx="3403600" cy="12192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875">
            <a:solidFill>
              <a:srgbClr val="1D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/>
            <a:r>
              <a:rPr sz="1250" b="1" u="sng">
                <a:solidFill>
                  <a:srgbClr val="1D6B3F"/>
                </a:solidFill>
                <a:latin typeface="Arial"/>
              </a:rPr>
              <a:t>Innovation and uniqueness: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7202A"/>
                </a:solidFill>
                <a:latin typeface="Arial"/>
              </a:rPr>
              <a:t>Facts are parsed. Estimates are inferred. A validator refuses to build a report that mixes them — the split is enforced, not promised.</a:t>
            </a:r>
          </a:p>
        </p:txBody>
      </p:sp>
      <p:pic>
        <p:nvPicPr>
          <p:cNvPr id="12" name="Picture 11" descr="two_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200" y="1778000"/>
            <a:ext cx="5003800" cy="3785967"/>
          </a:xfrm>
          <a:prstGeom prst="rect">
            <a:avLst/>
          </a:prstGeom>
        </p:spPr>
      </p:pic>
      <p:pic>
        <p:nvPicPr>
          <p:cNvPr id="13" name="Picture 12" descr="risk_s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1778000"/>
            <a:ext cx="3327400" cy="319065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1600" y="5664200"/>
            <a:ext cx="83820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Working prototype — v1.0.0 tagged, M11 acceptance 20/20, nothing skipped</a:t>
            </a:r>
          </a:p>
          <a:p>
            <a:pPr algn="l">
              <a:spcAft>
                <a:spcPts val="0"/>
              </a:spcAft>
            </a:pPr>
            <a:r>
              <a:rPr sz="1000" b="0" i="0" u="none">
                <a:solidFill>
                  <a:srgbClr val="5B6A7A"/>
                </a:solidFill>
                <a:latin typeface="Arial"/>
              </a:rPr>
              <a:t>Dashboard, demo video and source: github.com/PrashamJ17/SIH_PS160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66700"/>
            <a:ext cx="1257300" cy="800100"/>
          </a:xfrm>
          <a:prstGeom prst="ellipse">
            <a:avLst/>
          </a:prstGeom>
          <a:noFill/>
          <a:ln w="1905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17202A"/>
                </a:solidFill>
                <a:latin typeface="Calibri"/>
              </a:rPr>
              <a:t>Highlanders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0" y="25400"/>
            <a:ext cx="2247900" cy="1041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30" b="0" i="0" u="none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30" b="1" i="0" u="none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431800"/>
            <a:ext cx="8890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 u="none">
                <a:solidFill>
                  <a:srgbClr val="000000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" y="1168400"/>
            <a:ext cx="11988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>
                <a:solidFill>
                  <a:srgbClr val="1F497D"/>
                </a:solidFill>
                <a:latin typeface="Arial"/>
              </a:rPr>
              <a:t>❖ </a:t>
            </a:r>
            <a:r>
              <a:rPr sz="2100" b="1" u="sng">
                <a:solidFill>
                  <a:srgbClr val="1F497D"/>
                </a:solidFill>
                <a:latin typeface="Arial"/>
              </a:rPr>
              <a:t>Technologies and 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87500"/>
            <a:ext cx="11353800" cy="254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803400"/>
            <a:ext cx="7112000" cy="4047067"/>
          </a:xfrm>
          <a:prstGeom prst="rect">
            <a:avLst/>
          </a:prstGeom>
        </p:spPr>
      </p:pic>
      <p:pic>
        <p:nvPicPr>
          <p:cNvPr id="10" name="Picture 9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1803400"/>
            <a:ext cx="4724400" cy="36089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0" y="4013200"/>
            <a:ext cx="4724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Working prototype — the dashboard on a real capture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6000" y="4419600"/>
            <a:ext cx="2260600" cy="406400"/>
          </a:xfrm>
          <a:prstGeom prst="roundRect">
            <a:avLst>
              <a:gd name="adj" fmla="val 1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spcAft>
                <a:spcPts val="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26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79000" y="4419600"/>
            <a:ext cx="2260600" cy="406400"/>
          </a:xfrm>
          <a:prstGeom prst="roundRect">
            <a:avLst>
              <a:gd name="adj" fmla="val 1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spcAft>
                <a:spcPts val="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6 baselines + 2 tags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6000" y="4927600"/>
            <a:ext cx="2260600" cy="406400"/>
          </a:xfrm>
          <a:prstGeom prst="roundRect">
            <a:avLst>
              <a:gd name="adj" fmla="val 1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spcAft>
                <a:spcPts val="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6 vendor generators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79000" y="4927600"/>
            <a:ext cx="2260600" cy="406400"/>
          </a:xfrm>
          <a:prstGeom prst="roundRect">
            <a:avLst>
              <a:gd name="adj" fmla="val 1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spcAft>
                <a:spcPts val="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IKEv1 · IKEv2 · ESP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600" y="4648200"/>
            <a:ext cx="7112000" cy="939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875">
            <a:solidFill>
              <a:srgbClr val="8C1C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/>
            <a:r>
              <a:rPr sz="1250" b="1" u="sng">
                <a:solidFill>
                  <a:srgbClr val="8C1C13"/>
                </a:solidFill>
                <a:latin typeface="Arial"/>
              </a:rPr>
              <a:t>Two boundaries the design will not cross: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7202A"/>
                </a:solidFill>
                <a:latin typeface="Arial"/>
              </a:rPr>
              <a:t>It never writes to a network device and stores no credential — an AST sweep over every module enforces both. Configuration is generated; a person applies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6000" y="5511800"/>
            <a:ext cx="4724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5B6A7A"/>
                </a:solidFill>
                <a:latin typeface="Arial"/>
              </a:rPr>
              <a:t>Reproducible build — git 263bec9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66700"/>
            <a:ext cx="1257300" cy="800100"/>
          </a:xfrm>
          <a:prstGeom prst="ellipse">
            <a:avLst/>
          </a:prstGeom>
          <a:noFill/>
          <a:ln w="1905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17202A"/>
                </a:solidFill>
                <a:latin typeface="Calibri"/>
              </a:rPr>
              <a:t>Highlanders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0" y="25400"/>
            <a:ext cx="2247900" cy="1041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30" b="0" i="0" u="none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30" b="1" i="0" u="none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431800"/>
            <a:ext cx="8890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 u="none">
                <a:solidFill>
                  <a:srgbClr val="000000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" y="1168400"/>
            <a:ext cx="11988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>
                <a:solidFill>
                  <a:srgbClr val="1F497D"/>
                </a:solidFill>
                <a:latin typeface="Arial"/>
              </a:rPr>
              <a:t>❖ </a:t>
            </a:r>
            <a:r>
              <a:rPr sz="2100" b="1" u="sng">
                <a:solidFill>
                  <a:srgbClr val="1F497D"/>
                </a:solidFill>
                <a:latin typeface="Arial"/>
              </a:rPr>
              <a:t>Feasibility, the risks, and the strategies for overcoming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87500"/>
            <a:ext cx="11353800" cy="254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ea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803400"/>
            <a:ext cx="5969000" cy="4030250"/>
          </a:xfrm>
          <a:prstGeom prst="rect">
            <a:avLst/>
          </a:prstGeom>
        </p:spPr>
      </p:pic>
      <p:pic>
        <p:nvPicPr>
          <p:cNvPr id="10" name="Picture 9" descr="perform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1803400"/>
            <a:ext cx="5867400" cy="293596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23000" y="5080000"/>
            <a:ext cx="1397000" cy="381000"/>
          </a:xfrm>
          <a:prstGeom prst="roundRect">
            <a:avLst>
              <a:gd name="adj" fmla="val 1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2,613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0" y="5486400"/>
            <a:ext cx="1397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5B6A7A"/>
                </a:solidFill>
                <a:latin typeface="Arial"/>
              </a:rPr>
              <a:t>unit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08900" y="5080000"/>
            <a:ext cx="1397000" cy="381000"/>
          </a:xfrm>
          <a:prstGeom prst="roundRect">
            <a:avLst>
              <a:gd name="adj" fmla="val 16000"/>
            </a:avLst>
          </a:prstGeom>
          <a:solidFill>
            <a:srgbClr val="1D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306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900" y="5486400"/>
            <a:ext cx="1397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5B6A7A"/>
                </a:solidFill>
                <a:latin typeface="Arial"/>
              </a:rPr>
              <a:t>integration, on live pairs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94800" y="5080000"/>
            <a:ext cx="1397000" cy="381000"/>
          </a:xfrm>
          <a:prstGeom prst="roundRect">
            <a:avLst>
              <a:gd name="adj" fmla="val 1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93.8%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4800" y="5486400"/>
            <a:ext cx="1397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5B6A7A"/>
                </a:solidFill>
                <a:latin typeface="Arial"/>
              </a:rPr>
              <a:t>coverage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80700" y="5080000"/>
            <a:ext cx="1397000" cy="381000"/>
          </a:xfrm>
          <a:prstGeom prst="roundRect">
            <a:avLst>
              <a:gd name="adj" fmla="val 16000"/>
            </a:avLst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20/20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80700" y="5486400"/>
            <a:ext cx="1397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5B6A7A"/>
                </a:solidFill>
                <a:latin typeface="Arial"/>
              </a:rPr>
              <a:t>M11 acceptance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000" y="5816600"/>
            <a:ext cx="5867400" cy="4826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875">
            <a:solidFill>
              <a:srgbClr val="1D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/>
            <a:r>
              <a:rPr sz="1250" b="1" u="sng">
                <a:solidFill>
                  <a:srgbClr val="1D6B3F"/>
                </a:solidFill>
                <a:latin typeface="Arial"/>
              </a:rPr>
              <a:t>Deployable today: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7202A"/>
                </a:solidFill>
                <a:latin typeface="Arial"/>
              </a:rPr>
              <a:t>0.68 GB container, non-root, runs under --network none.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66700"/>
            <a:ext cx="1257300" cy="800100"/>
          </a:xfrm>
          <a:prstGeom prst="ellipse">
            <a:avLst/>
          </a:prstGeom>
          <a:noFill/>
          <a:ln w="1905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17202A"/>
                </a:solidFill>
                <a:latin typeface="Calibri"/>
              </a:rPr>
              <a:t>Highlanders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0" y="25400"/>
            <a:ext cx="2247900" cy="1041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30" b="0" i="0" u="none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30" b="1" i="0" u="none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431800"/>
            <a:ext cx="8890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 u="none">
                <a:solidFill>
                  <a:srgbClr val="000000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" y="1168400"/>
            <a:ext cx="11988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>
                <a:solidFill>
                  <a:srgbClr val="1F497D"/>
                </a:solidFill>
                <a:latin typeface="Arial"/>
              </a:rPr>
              <a:t>❖ </a:t>
            </a:r>
            <a:r>
              <a:rPr sz="2100" b="1" u="sng">
                <a:solidFill>
                  <a:srgbClr val="1F497D"/>
                </a:solidFill>
                <a:latin typeface="Arial"/>
              </a:rPr>
              <a:t>Impact on the target audience, and the benefits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87500"/>
            <a:ext cx="11353800" cy="254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enef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803400"/>
            <a:ext cx="3810000" cy="3360145"/>
          </a:xfrm>
          <a:prstGeom prst="rect">
            <a:avLst/>
          </a:prstGeom>
        </p:spPr>
      </p:pic>
      <p:pic>
        <p:nvPicPr>
          <p:cNvPr id="10" name="Picture 9" descr="generalis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1803400"/>
            <a:ext cx="4191000" cy="2693656"/>
          </a:xfrm>
          <a:prstGeom prst="rect">
            <a:avLst/>
          </a:prstGeom>
        </p:spPr>
      </p:pic>
      <p:pic>
        <p:nvPicPr>
          <p:cNvPr id="11" name="Picture 10" descr="endpoint_visi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800" y="1803400"/>
            <a:ext cx="3657600" cy="20588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64000" y="4368800"/>
            <a:ext cx="419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Honest about its own limits</a:t>
            </a:r>
          </a:p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7202A"/>
                </a:solidFill>
                <a:latin typeface="Arial"/>
              </a:rPr>
              <a:t>Trained on 637 rows across 7 classes of laboratory traffic. The unflattering number is published, not the best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800" y="4368800"/>
            <a:ext cx="36576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Endpoint visibility</a:t>
            </a:r>
          </a:p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7202A"/>
                </a:solidFill>
                <a:latin typeface="Arial"/>
              </a:rPr>
              <a:t>A gateway's own kernel state is parsed and graded against the same rules — never fetched, never with a credential.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600" y="5537200"/>
            <a:ext cx="11988800" cy="7366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875">
            <a:solidFill>
              <a:srgbClr val="1D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/>
            <a:r>
              <a:rPr sz="1250" b="1" u="sng">
                <a:solidFill>
                  <a:srgbClr val="1D6B3F"/>
                </a:solidFill>
                <a:latin typeface="Arial"/>
              </a:rPr>
              <a:t>Social and economic benefit: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7202A"/>
                </a:solidFill>
                <a:latin typeface="Arial"/>
              </a:rPr>
              <a:t>Government, telecom and enterprise VPN estates get audit-grade evidence from a capture they already have — no agent, no credential, no outage, and an Indian baseline (ITSAR, CERT-In) that no comparable tool ships.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66700"/>
            <a:ext cx="1257300" cy="800100"/>
          </a:xfrm>
          <a:prstGeom prst="ellipse">
            <a:avLst/>
          </a:prstGeom>
          <a:noFill/>
          <a:ln w="1905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17202A"/>
                </a:solidFill>
                <a:latin typeface="Calibri"/>
              </a:rPr>
              <a:t>Highlanders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0" y="25400"/>
            <a:ext cx="2247900" cy="1041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30" b="0" i="0" u="none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30" b="1" i="0" u="none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431800"/>
            <a:ext cx="8890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 u="none">
                <a:solidFill>
                  <a:srgbClr val="000000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" y="1168400"/>
            <a:ext cx="11988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>
                <a:solidFill>
                  <a:srgbClr val="1F497D"/>
                </a:solidFill>
                <a:latin typeface="Arial"/>
              </a:rPr>
              <a:t>❖ </a:t>
            </a:r>
            <a:r>
              <a:rPr sz="2100" b="1" u="sng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87500"/>
            <a:ext cx="11353800" cy="254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" y="1803400"/>
            <a:ext cx="5842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RFC 7296</a:t>
            </a:r>
          </a:p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7202A"/>
                </a:solidFill>
                <a:latin typeface="Arial"/>
              </a:rPr>
              <a:t>IKEv2 — the protocol the parser implements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6800" y="1803400"/>
            <a:ext cx="5842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RFC 2408 / 2409</a:t>
            </a:r>
          </a:p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7202A"/>
                </a:solidFill>
                <a:latin typeface="Arial"/>
              </a:rPr>
              <a:t>ISAKMP and IKEv1, including aggressive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" y="2387600"/>
            <a:ext cx="5842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RFC 8221 / 8247</a:t>
            </a:r>
          </a:p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7202A"/>
                </a:solidFill>
                <a:latin typeface="Arial"/>
              </a:rPr>
              <a:t>Algorithm implementation requirements for ESP and IKEv2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6800" y="2387600"/>
            <a:ext cx="5842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RFC 4303</a:t>
            </a:r>
          </a:p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7202A"/>
                </a:solidFill>
                <a:latin typeface="Arial"/>
              </a:rPr>
              <a:t>ESP, and the anti-replay window SA-03/SA-04 judge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" y="2971800"/>
            <a:ext cx="5842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RFC 9370 / 8784</a:t>
            </a:r>
          </a:p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7202A"/>
                </a:solidFill>
                <a:latin typeface="Arial"/>
              </a:rPr>
              <a:t>Post-quantum: additional key exchanges, PPKs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6800" y="2971800"/>
            <a:ext cx="5842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NIST SP 800-77 Rev. 1</a:t>
            </a:r>
          </a:p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7202A"/>
                </a:solidFill>
                <a:latin typeface="Arial"/>
              </a:rPr>
              <a:t>IPsec VPN guidance — the default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" y="3556000"/>
            <a:ext cx="5842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NIST SP 800-131A Rev. 2</a:t>
            </a:r>
          </a:p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7202A"/>
                </a:solidFill>
                <a:latin typeface="Arial"/>
              </a:rPr>
              <a:t>3DES disallowed after 2023; DES, MD5, SHA-1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6800" y="3556000"/>
            <a:ext cx="5842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CNSA 1.0 · BSI TR-02102-3</a:t>
            </a:r>
          </a:p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7202A"/>
                </a:solidFill>
                <a:latin typeface="Arial"/>
              </a:rPr>
              <a:t>The strict and German baselines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" y="4140200"/>
            <a:ext cx="5842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ITSAR (NCCS) · CERT-In</a:t>
            </a:r>
          </a:p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7202A"/>
                </a:solidFill>
                <a:latin typeface="Arial"/>
              </a:rPr>
              <a:t>Indian telecom security assurance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6800" y="4140200"/>
            <a:ext cx="5842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MITRE ATT&amp;CK</a:t>
            </a:r>
          </a:p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7202A"/>
                </a:solidFill>
                <a:latin typeface="Arial"/>
              </a:rPr>
              <a:t>Technique mapping for every finding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600" y="4800600"/>
            <a:ext cx="5918200" cy="13462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/>
            <a:r>
              <a:rPr sz="1250" b="1" u="sng">
                <a:solidFill>
                  <a:srgbClr val="1F497D"/>
                </a:solidFill>
                <a:latin typeface="Arial"/>
              </a:rPr>
              <a:t>Our own published research: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7202A"/>
                </a:solidFill>
                <a:latin typeface="Arial"/>
              </a:rPr>
              <a:t>GENERALISATION.md — held-out results including the lowest.  CONFOUND_AUDIT.md — did the model learn traffic or cipher?  DATASET.md — methodology and limits.  LIMITATIONS.md — what it cannot do.  external_dataset_audit.md — the named datasets contain no IPsec.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00600"/>
            <a:ext cx="5918200" cy="13462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875">
            <a:solidFill>
              <a:srgbClr val="1D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/>
            <a:r>
              <a:rPr sz="1250" b="1" u="sng">
                <a:solidFill>
                  <a:srgbClr val="1D6B3F"/>
                </a:solidFill>
                <a:latin typeface="Arial"/>
              </a:rPr>
              <a:t>Code, evidence and demo: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7202A"/>
                </a:solidFill>
                <a:latin typeface="Arial"/>
              </a:rPr>
              <a:t>github.com/PrashamJ17/SIH_PS160 — v1.0.0, M11 acceptance 20/20.  Testbed: real strongSwan pairs under netem.  Published JSON report schema 1.3.  docs/SECURITY.md names the test behind every security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